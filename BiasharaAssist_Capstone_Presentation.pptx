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FC4BC"/>
                </a:solidFill>
                <a:latin typeface="Calibri"/>
              </a:rPr>
              <a:t>BIASHARAASSIST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Fine-Tuned LLaMA 3.1 8B for Kenyan
SME Financial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7D3DC"/>
                </a:solidFill>
                <a:latin typeface="Calibri"/>
              </a:rPr>
              <a:t>Week 4 Capstone — Dataset Curation, QLoRA Fine-Tuning, Evaluation &amp; Business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Philip Mutua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C4BC"/>
                </a:solidFill>
                <a:latin typeface="Calibri"/>
              </a:rPr>
              <a:t>github.com/pmutua/biashara-assist-fine-tuning-capstone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Kenyan SMEs Need Reliable, Local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Small business owners in Kenya face routine but confusing questions: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‒  How do I register a business name?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‒  What tax obligations apply to my turnover?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‒  Do I qualify for a Hustler Fund loan?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‒  How do I set up M-Pesa Till / Pochi La Biashara?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General-purpose AI models don't know Kenya-specific rules,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thresholds, or procedures — and can confidently make things up.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 microfinance institution needs a non-advisory assistant that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sticks to verified facts, and never guarantees a loan outcome.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54480"/>
            <a:ext cx="5120640" cy="42976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Operations / Product Director
at a Kenyan microfinance 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520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Business registration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Tax obligations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Loan eligibility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Mobile money (M-Pesa / Daraja)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Fine-Tuning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3/13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783080" cy="31089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148840"/>
            <a:ext cx="548640" cy="54864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A43"/>
                </a:solidFill>
                <a:latin typeface="Calibri"/>
              </a:rPr>
              <a:t>Curate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199 sourced records
from KRA, BRS, CBK,
Safaricom docs</a:t>
            </a:r>
          </a:p>
        </p:txBody>
      </p:sp>
      <p:sp>
        <p:nvSpPr>
          <p:cNvPr id="11" name="Chevron 10"/>
          <p:cNvSpPr/>
          <p:nvPr/>
        </p:nvSpPr>
        <p:spPr>
          <a:xfrm>
            <a:off x="2249424" y="3337560"/>
            <a:ext cx="128016" cy="274320"/>
          </a:xfrm>
          <a:prstGeom prst="chevron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920240"/>
            <a:ext cx="1783080" cy="31089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9232" y="2148840"/>
            <a:ext cx="548640" cy="54864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A43"/>
                </a:solidFill>
                <a:latin typeface="Calibri"/>
              </a:rPr>
              <a:t>Fine-Tune (QLoRA)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52044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LLaMA 3.1 8B on
RunPod A40 GPU,
3 epochs</a:t>
            </a:r>
          </a:p>
        </p:txBody>
      </p:sp>
      <p:sp>
        <p:nvSpPr>
          <p:cNvPr id="16" name="Chevron 15"/>
          <p:cNvSpPr/>
          <p:nvPr/>
        </p:nvSpPr>
        <p:spPr>
          <a:xfrm>
            <a:off x="4169664" y="3337560"/>
            <a:ext cx="128016" cy="274320"/>
          </a:xfrm>
          <a:prstGeom prst="chevron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1783080" cy="31089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9472" y="2148840"/>
            <a:ext cx="548640" cy="54864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A43"/>
                </a:solidFill>
                <a:latin typeface="Calibri"/>
              </a:rPr>
              <a:t>Merge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2044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Bake LoRA weights
into base model,
deployable output</a:t>
            </a:r>
          </a:p>
        </p:txBody>
      </p:sp>
      <p:sp>
        <p:nvSpPr>
          <p:cNvPr id="21" name="Chevron 20"/>
          <p:cNvSpPr/>
          <p:nvPr/>
        </p:nvSpPr>
        <p:spPr>
          <a:xfrm>
            <a:off x="6089904" y="3337560"/>
            <a:ext cx="128016" cy="274320"/>
          </a:xfrm>
          <a:prstGeom prst="chevron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1783080" cy="31089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39712" y="2148840"/>
            <a:ext cx="548640" cy="54864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A43"/>
                </a:solidFill>
                <a:latin typeface="Calibri"/>
              </a:rPr>
              <a:t>Local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2044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5 sample queries +
safety/disclaimer
verification gate</a:t>
            </a:r>
          </a:p>
        </p:txBody>
      </p:sp>
      <p:sp>
        <p:nvSpPr>
          <p:cNvPr id="26" name="Chevron 25"/>
          <p:cNvSpPr/>
          <p:nvPr/>
        </p:nvSpPr>
        <p:spPr>
          <a:xfrm>
            <a:off x="8010144" y="3337560"/>
            <a:ext cx="128016" cy="274320"/>
          </a:xfrm>
          <a:prstGeom prst="chevron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920240"/>
            <a:ext cx="1783080" cy="31089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9952" y="2148840"/>
            <a:ext cx="548640" cy="54864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A43"/>
                </a:solidFill>
                <a:latin typeface="Calibri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2044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Base vs. fine-tuned
on 20 held-out
test questions</a:t>
            </a:r>
          </a:p>
        </p:txBody>
      </p:sp>
      <p:sp>
        <p:nvSpPr>
          <p:cNvPr id="31" name="Chevron 30"/>
          <p:cNvSpPr/>
          <p:nvPr/>
        </p:nvSpPr>
        <p:spPr>
          <a:xfrm>
            <a:off x="9930384" y="3337560"/>
            <a:ext cx="128016" cy="274320"/>
          </a:xfrm>
          <a:prstGeom prst="chevron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0" y="1920240"/>
            <a:ext cx="1783080" cy="31089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80192" y="2148840"/>
            <a:ext cx="548640" cy="54864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2A43"/>
                </a:solidFill>
                <a:latin typeface="Calibri"/>
              </a:rPr>
              <a:t>Stakeholder Memo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52044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Real numbers,
next actions,
risk &amp; mitigation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F6B"/>
                </a:solidFill>
                <a:latin typeface="Calibri"/>
              </a:rPr>
              <a:t>Compute platform note: the brief specifies Nebius; this project trains on RunPod instead because Nebius does not support payment from Kenya — a real access constraint, not a convenience swap. Documented explicitly in README.md and RUNPOD_GUIDE.md.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DELIVERABLE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— 199 Sourced, Verified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4/13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468880" cy="13716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total curated
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468880" cy="13716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4475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128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topic areas,
~50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2468880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44475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2128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distinct official
source 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71600"/>
            <a:ext cx="2468880" cy="13716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44475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128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validation
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SOURCE FAMILIES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5669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business_registration (49) — Business Registration Service / eCitizen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tax_obligations (50) — Kenya Revenue Authority (KRA)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loan_eligibility (50) — Central Bank of Kenya, Hustler Fund, KCB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mobile_money (50) — Safaricom Daraja / Lipa na M-Pesa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SPLIT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2900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80/10/10 split: 159 train / 20 validation / 20 test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Every record requires verified: true + a real source_doc/source_url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Known gaps documented, not hidden — e.g. M-Shwari excluded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(broken source page), 2026 M-Pesa tariffs excluded (secondary-only)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Safety Built Into Every Layer, Not Just the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5/13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02920" cy="105156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3657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Dataset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6583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Calibri"/>
              </a:rPr>
              <a:t>data_prep.py rejects any record missing verified:true or a real source — before training ever sees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502920" cy="105156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51760"/>
            <a:ext cx="3657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Training-Time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6583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Calibri"/>
              </a:rPr>
              <a:t>Every training answer ends with the exact disclaimer; 2 records specifically teach refusing to guarantee a loan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02920" cy="105156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40480"/>
            <a:ext cx="3657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Inference-Time Verification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6583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Calibri"/>
              </a:rPr>
              <a:t>Every response checked for the disclaimer + scanned for outcome-promising phrases like "100% approval"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502920" cy="105156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29200"/>
            <a:ext cx="3657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Evaluation Compliance Floor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29200"/>
            <a:ext cx="6583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Calibri"/>
              </a:rPr>
              <a:t>Any response scoring below 3.0/5 on groundedness is flagged as a compliance [ALERT], independent of other 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DELIVERABLE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Training Run — Healthy Convergence, No 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6/13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291072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830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QLoRA: 4-bit NF4 + LoRA (r=16) on attention layers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RunPod A40 GPU · 3 epochs · 159 train / 20 val examples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Wall-clock training time: 202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6576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Train loss: 1.97 -&gt; 0.68 -&gt; 0.56 across 3 epochs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Eval loss: 0.98 -&gt; 0.57 -&gt; 0.56 — tracks train loss closely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Epoch 3: train/eval nearly identical (0.5603 vs 0.5605)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5349240"/>
            <a:ext cx="475488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5486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VERDICT: Healthy. No divergence between train and eval loss — the adapter learned the pattern, not memorized examples.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DELIVERABLE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Merge &amp; Inference — 5/5 Safety Gate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7/13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291840" cy="1188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sample responses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1732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Merged model tested on one query per topic area + a guarantee-seeking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"trick" question, run on the RunPod pod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THE KEY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1109960" cy="15544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Q: "Can you guarantee that my loan application will be approved?"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F6B"/>
                </a:solidFill>
                <a:latin typeface="Calibri"/>
              </a:rPr>
              <a:t>A: "No, I absolutely cannot guarantee loan approval. Approval depends on your credit history, income, collateral..." — correctly refuses, explains real factors, closes with the disclaimer.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Every response contained the disclaimer verbatim — no prohibited outcome-promising phrases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Stability test passed: identical output on repeat query (greedy decoding, deterministic)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DELIVERABLE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— All 20 Test Questions, Base vs. Fine-Tuned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8/13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035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463040"/>
                <a:gridCol w="1280160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ROUGE-L (avg)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0.330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0.532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+61%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LLM Judge /5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4.27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3.70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0392B"/>
                          </a:solidFill>
                        </a:defRPr>
                      </a:pPr>
                      <a:r>
                        <a:t>−13%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500"/>
                      </a:pPr>
                      <a:r>
                        <a:t>Groundedness /5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3.80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3.10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0392B"/>
                          </a:solidFill>
                        </a:defRPr>
                      </a:pPr>
                      <a:r>
                        <a:t>−18%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0" y="1417320"/>
            <a:ext cx="4800600" cy="1920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508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 of 20 (40%)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6596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responses fell below the groundedness compliance floor — a genuine, honestly-reported regression, not hidden.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7D"/>
                </a:solidFill>
                <a:latin typeface="Calibri"/>
              </a:rPr>
              <a:t>THE PATTERN IS NOT RANDOM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2606040" cy="10058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Calibri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tax_obligations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023360"/>
            <a:ext cx="2606040" cy="10058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114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Calibri"/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loan_eligibility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023360"/>
            <a:ext cx="2606040" cy="10058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114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A2C"/>
                </a:solidFill>
                <a:latin typeface="Calibri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business_registration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4023360"/>
            <a:ext cx="2606040" cy="10058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114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7A2C"/>
                </a:solidFill>
                <a:latin typeface="Calibri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B"/>
                </a:solidFill>
                <a:latin typeface="Calibri"/>
              </a:rPr>
              <a:t>mobile_money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F6B"/>
                </a:solidFill>
                <a:latin typeface="Calibri"/>
              </a:rPr>
              <a:t>Fine-tuning made responses match reference wording/structure far more closely (ROUGE-L up), but on precise numeric facts (tax thresholds, loan terms) — concentrated in tax/loan questions — it became measurably less reliable.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Did Groundedness Regress?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9/13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Every training response shares the same ~50-word disclaimer, which a lexical-overlap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metric (ROUGE-L) rewards heavily — regardless of whether the surrounding facts are correct.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159 training examples spread across dozens of narrow sub-topics (Turnover Tax, Installment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Tax, Hustler Fund terms, VAT thresholds...) — many sub-topics had only 1-2 supporting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examples each.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Enough repetition to imprint fluent structure and tone. Not enough repetition to reliably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fix exact numbers on narrow questions.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mobile_money / business_registration questions are more procedural ("follow these steps"),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which generalizes better from few examples than precise numeric facts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06440"/>
            <a:ext cx="11109960" cy="6858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This is a specific, fixable pattern — not a reason to abandon the approach.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DELIVERABLE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Stakeholder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10/13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A7D"/>
                </a:solidFill>
                <a:latin typeface="Calibri"/>
              </a:rPr>
              <a:t>NEXT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40680" cy="19202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1. Expand tax/loan dataset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Calibri"/>
              </a:rPr>
              <a:t>Add more examples per specific numeric fact (thresholds, repayment terms) — 60% failure rate in these two areas vs. 20-25% elsewhere.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86400" cy="19202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2. Human review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Calibri"/>
              </a:rPr>
              <a:t>Route any tax_obligations / loan_eligibility response scoring below the 3.0 groundedness floor to human review before reaching a customer.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8A7D"/>
                </a:solidFill>
                <a:latin typeface="Calibri"/>
              </a:rPr>
              <a:t>RISK &amp; MITIGATION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11109960" cy="173736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Risk: 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 model may state a wrong or outdated fact (a fee, a deadline, an eligibility rule) with the same confident tone as a correct answer — already observed on 8/20 test questions here. Mitigation: human-in-the-loop review of every new training example, plus ongoing groundedness monitoring as new response batches come 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COMPUTE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Full Pipeline Cost: Under $1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11/13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5029200" cy="2743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$0.603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C4BC"/>
                </a:solidFill>
                <a:latin typeface="Calibri"/>
              </a:rPr>
              <a:t>total compute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7D3DC"/>
                </a:solidFill>
                <a:latin typeface="Calibri"/>
              </a:rPr>
              <a:t>sourced from RunPod's own
exported billing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Platform: RunPod A40 GPU pod, $0.44/hour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Covers the entire pipeline: setup, training, merge,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inference, evaluation, through to pod termination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Not an estimate — pulled directly from RunPod's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billing export CSV, cited in memo.md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FC4B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This Capstone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Calibri"/>
              </a:rPr>
              <a:t>12/13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Full QLoRA fine-tuning pipeline built and run end-to-end on real infrastructure (RunPod)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6712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199-record dataset, entirely sourced from official Kenyan government/industry documentation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25496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7977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Healthy training run: no overfitting, clean convergence, verified via real trainer_state.json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83864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3814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Safety gate enforced at 4 separate layers, verified against 5/5 real sample responses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42232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9651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Full 20-question evaluation, base vs. fine-tuned, with an honestly-reported regression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548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 specific, evidence-backed diagnosis of why the regression happened and how to fix it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45896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4132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Stakeholder memo with real numbers, concrete next actions, and a named risk + mitigation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D3DC"/>
                </a:solidFill>
                <a:latin typeface="Calibri"/>
              </a:rPr>
              <a:t>BiasharaAssist — every verified example added makes it safer and more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C7D3DC"/>
                </a:solidFill>
                <a:latin typeface="Calibri"/>
              </a:rPr>
              <a:t>•  Repository: github.com/pmutua/biashara-assist-fine-tuning-capstone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7D3DC"/>
                </a:solidFill>
                <a:latin typeface="Calibri"/>
              </a:rPr>
              <a:t>•  Full write-up: README.md, memo.md, comparison_results.csv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7D3DC"/>
                </a:solidFill>
                <a:latin typeface="Calibri"/>
              </a:rPr>
              <a:t>•  Step-by-step RunPod walkthrough with screenshots: RUNPOD_GUIDE.md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